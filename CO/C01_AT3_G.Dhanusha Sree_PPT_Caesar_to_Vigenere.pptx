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1F3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 panose="020B0604020202020204"/>
              </a:rPr>
              <a:t>Letter frequency in English (%)</a:t>
            </a:r>
            <a:endParaRPr sz="1200" b="0" i="0" u="none" strike="noStrike">
              <a:solidFill>
                <a:srgbClr val="0B1F3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  <c:pt idx="22">
                  <c:v>W</c:v>
                </c:pt>
                <c:pt idx="23">
                  <c:v>X</c:v>
                </c:pt>
                <c:pt idx="24">
                  <c:v>Y</c:v>
                </c:pt>
                <c:pt idx="25">
                  <c:v>Z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8.2</c:v>
                </c:pt>
                <c:pt idx="1">
                  <c:v>1.5</c:v>
                </c:pt>
                <c:pt idx="2">
                  <c:v>2.8</c:v>
                </c:pt>
                <c:pt idx="3">
                  <c:v>4.3</c:v>
                </c:pt>
                <c:pt idx="4">
                  <c:v>12.7</c:v>
                </c:pt>
                <c:pt idx="5">
                  <c:v>2.2</c:v>
                </c:pt>
                <c:pt idx="6">
                  <c:v>2</c:v>
                </c:pt>
                <c:pt idx="7">
                  <c:v>6.1</c:v>
                </c:pt>
                <c:pt idx="8">
                  <c:v>7</c:v>
                </c:pt>
                <c:pt idx="9">
                  <c:v>0.15</c:v>
                </c:pt>
                <c:pt idx="10">
                  <c:v>0.77</c:v>
                </c:pt>
                <c:pt idx="11">
                  <c:v>4</c:v>
                </c:pt>
                <c:pt idx="12">
                  <c:v>2.4</c:v>
                </c:pt>
                <c:pt idx="13">
                  <c:v>6.7</c:v>
                </c:pt>
                <c:pt idx="14">
                  <c:v>7.5</c:v>
                </c:pt>
                <c:pt idx="15">
                  <c:v>1.9</c:v>
                </c:pt>
                <c:pt idx="16">
                  <c:v>0.1</c:v>
                </c:pt>
                <c:pt idx="17">
                  <c:v>6</c:v>
                </c:pt>
                <c:pt idx="18">
                  <c:v>6.3</c:v>
                </c:pt>
                <c:pt idx="19">
                  <c:v>9.1</c:v>
                </c:pt>
                <c:pt idx="20">
                  <c:v>2.8</c:v>
                </c:pt>
                <c:pt idx="21">
                  <c:v>1</c:v>
                </c:pt>
                <c:pt idx="22">
                  <c:v>2.4</c:v>
                </c:pt>
                <c:pt idx="23">
                  <c:v>0.15</c:v>
                </c:pt>
                <c:pt idx="24">
                  <c:v>2</c:v>
                </c:pt>
                <c:pt idx="25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6B7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6B7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dc7ab0e0-e5d5-4677-b5e9-dab4f4748a9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1F3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 panose="020B0604020202020204"/>
              </a:rPr>
              <a:t>Caesar: same shape, just shifted</a:t>
            </a:r>
            <a:endParaRPr sz="1200" b="0" i="0" u="none" strike="noStrike">
              <a:solidFill>
                <a:srgbClr val="0B1F3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  <c:pt idx="22">
                  <c:v>W</c:v>
                </c:pt>
                <c:pt idx="23">
                  <c:v>X</c:v>
                </c:pt>
                <c:pt idx="24">
                  <c:v>Y</c:v>
                </c:pt>
                <c:pt idx="25">
                  <c:v>Z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0.15</c:v>
                </c:pt>
                <c:pt idx="1">
                  <c:v>2</c:v>
                </c:pt>
                <c:pt idx="2">
                  <c:v>0.1</c:v>
                </c:pt>
                <c:pt idx="3">
                  <c:v>8.2</c:v>
                </c:pt>
                <c:pt idx="4">
                  <c:v>1.5</c:v>
                </c:pt>
                <c:pt idx="5">
                  <c:v>2.8</c:v>
                </c:pt>
                <c:pt idx="6">
                  <c:v>4.3</c:v>
                </c:pt>
                <c:pt idx="7">
                  <c:v>12.7</c:v>
                </c:pt>
                <c:pt idx="8">
                  <c:v>2.2</c:v>
                </c:pt>
                <c:pt idx="9">
                  <c:v>2</c:v>
                </c:pt>
                <c:pt idx="10">
                  <c:v>6.1</c:v>
                </c:pt>
                <c:pt idx="11">
                  <c:v>7</c:v>
                </c:pt>
                <c:pt idx="12">
                  <c:v>0.15</c:v>
                </c:pt>
                <c:pt idx="13">
                  <c:v>0.77</c:v>
                </c:pt>
                <c:pt idx="14">
                  <c:v>4</c:v>
                </c:pt>
                <c:pt idx="15">
                  <c:v>2.4</c:v>
                </c:pt>
                <c:pt idx="16">
                  <c:v>6.7</c:v>
                </c:pt>
                <c:pt idx="17">
                  <c:v>7.5</c:v>
                </c:pt>
                <c:pt idx="18">
                  <c:v>1.9</c:v>
                </c:pt>
                <c:pt idx="19">
                  <c:v>0.1</c:v>
                </c:pt>
                <c:pt idx="20">
                  <c:v>6</c:v>
                </c:pt>
                <c:pt idx="21">
                  <c:v>6.3</c:v>
                </c:pt>
                <c:pt idx="22">
                  <c:v>9.1</c:v>
                </c:pt>
                <c:pt idx="23">
                  <c:v>2.8</c:v>
                </c:pt>
                <c:pt idx="24">
                  <c:v>1</c:v>
                </c:pt>
                <c:pt idx="25">
                  <c:v>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6B7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6B7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4a8b4a8-c240-49f0-9b9e-a68fd35f53e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B1F3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 panose="020B0604020202020204"/>
              </a:rPr>
              <a:t>Vigenère: flat, pattern hidden</a:t>
            </a:r>
            <a:endParaRPr sz="1200" b="0" i="0" u="none" strike="noStrike">
              <a:solidFill>
                <a:srgbClr val="0B1F3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5B83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Sheet1!$A$2:$A$27</c:f>
              <c:strCache>
                <c:ptCount val="2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  <c:pt idx="22">
                  <c:v>W</c:v>
                </c:pt>
                <c:pt idx="23">
                  <c:v>X</c:v>
                </c:pt>
                <c:pt idx="24">
                  <c:v>Y</c:v>
                </c:pt>
                <c:pt idx="25">
                  <c:v>Z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3.4</c:v>
                </c:pt>
                <c:pt idx="1">
                  <c:v>3.9</c:v>
                </c:pt>
                <c:pt idx="2">
                  <c:v>4.4</c:v>
                </c:pt>
                <c:pt idx="3">
                  <c:v>3.65</c:v>
                </c:pt>
                <c:pt idx="4">
                  <c:v>4.15</c:v>
                </c:pt>
                <c:pt idx="5">
                  <c:v>3.4</c:v>
                </c:pt>
                <c:pt idx="6">
                  <c:v>3.9</c:v>
                </c:pt>
                <c:pt idx="7">
                  <c:v>4.4</c:v>
                </c:pt>
                <c:pt idx="8">
                  <c:v>3.65</c:v>
                </c:pt>
                <c:pt idx="9">
                  <c:v>4.15</c:v>
                </c:pt>
                <c:pt idx="10">
                  <c:v>3.4</c:v>
                </c:pt>
                <c:pt idx="11">
                  <c:v>3.9</c:v>
                </c:pt>
                <c:pt idx="12">
                  <c:v>4.4</c:v>
                </c:pt>
                <c:pt idx="13">
                  <c:v>3.65</c:v>
                </c:pt>
                <c:pt idx="14">
                  <c:v>4.15</c:v>
                </c:pt>
                <c:pt idx="15">
                  <c:v>3.4</c:v>
                </c:pt>
                <c:pt idx="16">
                  <c:v>3.9</c:v>
                </c:pt>
                <c:pt idx="17">
                  <c:v>4.4</c:v>
                </c:pt>
                <c:pt idx="18">
                  <c:v>3.65</c:v>
                </c:pt>
                <c:pt idx="19">
                  <c:v>4.15</c:v>
                </c:pt>
                <c:pt idx="20">
                  <c:v>3.4</c:v>
                </c:pt>
                <c:pt idx="21">
                  <c:v>3.9</c:v>
                </c:pt>
                <c:pt idx="22">
                  <c:v>4.4</c:v>
                </c:pt>
                <c:pt idx="23">
                  <c:v>3.65</c:v>
                </c:pt>
                <c:pt idx="24">
                  <c:v>4.15</c:v>
                </c:pt>
                <c:pt idx="25">
                  <c:v>3.4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6B7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5B6B7F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6cb8ce7-70fa-4b2f-9535-722004c9f2d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3" name="Text 1"/>
          <p:cNvSpPr txBox="1"/>
          <p:nvPr/>
        </p:nvSpPr>
        <p:spPr>
          <a:xfrm>
            <a:off x="495935" y="44323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Caesar to Vigenère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28016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5B8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Evolution of Substitution Ciphers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48840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58260" y="4434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- G.DHANUSHA SREE (192325012)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CO1-AT3 Technical Presentation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391660" y="1842770"/>
            <a:ext cx="4458335" cy="20770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en-US" altLang="en-US" sz="2400"/>
              <a:t> about how people have hidden secret messages by replacing letters, and how the methods improved over time.</a:t>
            </a:r>
            <a:endParaRPr lang="en-US" altLang="en-US" sz="2400"/>
          </a:p>
        </p:txBody>
      </p:sp>
      <p:sp>
        <p:nvSpPr>
          <p:cNvPr id="18" name="Text Box 17"/>
          <p:cNvSpPr txBox="1"/>
          <p:nvPr/>
        </p:nvSpPr>
        <p:spPr>
          <a:xfrm>
            <a:off x="502920" y="1842770"/>
            <a:ext cx="361378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olidFill>
                  <a:schemeClr val="bg1"/>
                </a:solidFill>
              </a:rPr>
              <a:t>CSA5116-</a:t>
            </a:r>
            <a:r>
              <a:rPr lang="en-US" b="1">
                <a:solidFill>
                  <a:schemeClr val="bg1"/>
                </a:solidFill>
              </a:rPr>
              <a:t>Cryptography and Network Security</a:t>
            </a:r>
            <a:endParaRPr 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Basic Terms</a:t>
            </a:r>
            <a:endParaRPr lang="en-US" sz="2000" b="1" dirty="0">
              <a:solidFill>
                <a:srgbClr val="FFFFFF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b="1" dirty="0">
              <a:solidFill>
                <a:srgbClr val="F5B8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0972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8" name="Text 6"/>
          <p:cNvSpPr txBox="1"/>
          <p:nvPr/>
        </p:nvSpPr>
        <p:spPr>
          <a:xfrm>
            <a:off x="777240" y="11430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Plaintext</a:t>
            </a:r>
            <a:endParaRPr lang="en-US" sz="2000" b="1" dirty="0">
              <a:solidFill>
                <a:srgbClr val="0B1F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749040" y="11430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message</a:t>
            </a:r>
            <a:endParaRPr lang="en-US" sz="2000" dirty="0">
              <a:solidFill>
                <a:srgbClr val="5B6B7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92808"/>
            <a:ext cx="109728" cy="640080"/>
          </a:xfrm>
          <a:prstGeom prst="rect">
            <a:avLst/>
          </a:prstGeom>
          <a:solidFill>
            <a:srgbClr val="F5B83D"/>
          </a:solidFill>
        </p:spPr>
      </p:sp>
      <p:sp>
        <p:nvSpPr>
          <p:cNvPr id="12" name="Text 10"/>
          <p:cNvSpPr txBox="1"/>
          <p:nvPr/>
        </p:nvSpPr>
        <p:spPr>
          <a:xfrm>
            <a:off x="777240" y="1892808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Ciphertext</a:t>
            </a:r>
            <a:endParaRPr lang="en-US" sz="2000" b="1" dirty="0">
              <a:solidFill>
                <a:srgbClr val="0B1F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749040" y="189280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 message</a:t>
            </a:r>
            <a:endParaRPr lang="en-US" sz="2000" dirty="0">
              <a:solidFill>
                <a:srgbClr val="5B6B7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42616"/>
            <a:ext cx="10972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16" name="Text 14"/>
          <p:cNvSpPr txBox="1"/>
          <p:nvPr/>
        </p:nvSpPr>
        <p:spPr>
          <a:xfrm>
            <a:off x="777240" y="2642616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Encryption / Decryption</a:t>
            </a:r>
            <a:endParaRPr lang="en-US" sz="2000" b="1" dirty="0">
              <a:solidFill>
                <a:srgbClr val="0B1F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749040" y="2642616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Converting back and forth</a:t>
            </a:r>
            <a:endParaRPr lang="en-US" sz="2000" dirty="0">
              <a:solidFill>
                <a:srgbClr val="5B6B7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92424"/>
            <a:ext cx="109728" cy="640080"/>
          </a:xfrm>
          <a:prstGeom prst="rect">
            <a:avLst/>
          </a:prstGeom>
          <a:solidFill>
            <a:srgbClr val="F5B83D"/>
          </a:solidFill>
        </p:spPr>
      </p:sp>
      <p:sp>
        <p:nvSpPr>
          <p:cNvPr id="20" name="Text 18"/>
          <p:cNvSpPr txBox="1"/>
          <p:nvPr/>
        </p:nvSpPr>
        <p:spPr>
          <a:xfrm>
            <a:off x="777240" y="339242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</a:t>
            </a:r>
            <a:endParaRPr lang="en-US" sz="2000" b="1" dirty="0">
              <a:solidFill>
                <a:srgbClr val="0B1F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749040" y="339242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secret that controls the process</a:t>
            </a:r>
            <a:endParaRPr lang="en-US" sz="2000" dirty="0">
              <a:solidFill>
                <a:srgbClr val="5B6B7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14223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42232"/>
            <a:ext cx="109728" cy="640080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24" name="Text 22"/>
          <p:cNvSpPr txBox="1"/>
          <p:nvPr/>
        </p:nvSpPr>
        <p:spPr>
          <a:xfrm>
            <a:off x="777240" y="4142232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Substitution cipher</a:t>
            </a:r>
            <a:endParaRPr lang="en-US" sz="2000" b="1" dirty="0">
              <a:solidFill>
                <a:srgbClr val="0B1F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749040" y="4142232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letter is replaced by another letter</a:t>
            </a:r>
            <a:endParaRPr lang="en-US" sz="2000" dirty="0">
              <a:solidFill>
                <a:srgbClr val="5B6B7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Caesar Cipher (about 50 BC)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295" y="1188720"/>
            <a:ext cx="5274945" cy="336423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every letter by a fixed number</a:t>
            </a:r>
            <a:endParaRPr lang="en-US" sz="2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(shift 3): HELLO → KHOOR</a:t>
            </a:r>
            <a:endParaRPr lang="en-US" sz="2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= shift number (1 to 25)</a:t>
            </a:r>
            <a:endParaRPr lang="en-US" sz="2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Formula: C = (P + k) mod 26 ,</a:t>
            </a:r>
            <a:endParaRPr lang="en-US" sz="2500" dirty="0">
              <a:solidFill>
                <a:srgbClr val="0B1F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indent="0">
              <a:spcAft>
                <a:spcPts val="900"/>
              </a:spcAft>
              <a:buSzPct val="100000"/>
              <a:buNone/>
            </a:pPr>
            <a:r>
              <a:rPr lang="en-US" sz="2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C=(C-K)mod 26</a:t>
            </a:r>
            <a:endParaRPr lang="en-US" sz="2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Weakness: only 25 keys, so brute force breaks it instantly</a:t>
            </a:r>
            <a:endParaRPr lang="en-US" sz="2500" dirty="0">
              <a:solidFill>
                <a:srgbClr val="0B1F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2080" y="128016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14630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874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874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0" y="1874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 shift +3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0175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855"/>
            <a:ext cx="8307705" cy="749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Monoalphabetic Substitution (</a:t>
            </a:r>
            <a:r>
              <a:rPr lang="en-US" alt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 500 to AD 1500)</a:t>
            </a:r>
            <a:endParaRPr lang="en-US" altLang="en-US" sz="2400" b="1" dirty="0">
              <a:solidFill>
                <a:srgbClr val="FFFFFF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42062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monoalphabetic substitution, each letter is replaced by another letter using a fixed key</a:t>
            </a:r>
            <a:endParaRPr lang="en-US" altLang="en-US" sz="2400" dirty="0">
              <a:solidFill>
                <a:srgbClr val="0B1F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makes the message harder to understand without knowing the key.</a:t>
            </a:r>
            <a:endParaRPr lang="en-US" altLang="en-US" sz="2400" dirty="0">
              <a:solidFill>
                <a:srgbClr val="0B1F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one letter always maps to the same letter</a:t>
            </a:r>
            <a:endParaRPr lang="en-US" sz="2400" dirty="0">
              <a:solidFill>
                <a:srgbClr val="0B1F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173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2392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61304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0216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9128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16952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55864" y="18288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2606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0175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2392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61304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0216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9128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16952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55864" y="3429000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Vigenère Cipher (</a:t>
            </a:r>
            <a:r>
              <a:rPr lang="en-US" alt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16th century</a:t>
            </a: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87120"/>
            <a:ext cx="8229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a keyword, repeated along the message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key letter gives a different Caesar shift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plaintext letter → different ciphertext letters</a:t>
            </a:r>
            <a:endParaRPr lang="en-US" sz="2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Called "the indecipherable cipher" for about 300 years</a:t>
            </a:r>
            <a:endParaRPr lang="en-US" sz="2400" dirty="0">
              <a:solidFill>
                <a:srgbClr val="0B1F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59152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89504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9856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50208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10912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41264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71616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62672" y="3017520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4787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Key: LEMON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59152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89504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19856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50208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10912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41264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71616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01968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62672" y="3547872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0B1F3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078224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359152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889504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19856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50208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0560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10912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41264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71616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01968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0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62672" y="4078224"/>
            <a:ext cx="484632" cy="484632"/>
          </a:xfrm>
          <a:prstGeom prst="roundRect">
            <a:avLst>
              <a:gd name="adj" fmla="val 11321"/>
            </a:avLst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Weakness: Frequency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Discovered by Al-Kindi (9th century)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English, E, T, A, O are the most common letters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common letter in the ciphertext probably means E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2743200"/>
          <a:ext cx="8229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194560"/>
                <a:gridCol w="2011680"/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Caesar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Monoalphabetic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Vigenère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number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Scrambled alphabet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Keyword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26!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26ⁿ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Frequency hidden?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Difficulty to break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easy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B1F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Breaking Vigenère and Practical Experiment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Broken by Babbage and Kasiski (1850s to 1863): repeated patterns reveal the key length.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11680"/>
            <a:ext cx="548640" cy="548640"/>
          </a:xfrm>
          <a:prstGeom prst="ellipse">
            <a:avLst/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 one paragraph with all three ciphers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0" y="19202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011680"/>
            <a:ext cx="548640" cy="548640"/>
          </a:xfrm>
          <a:prstGeom prst="ellipse">
            <a:avLst/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651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 letter-frequency graphs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011680"/>
            <a:ext cx="548640" cy="548640"/>
          </a:xfrm>
          <a:prstGeom prst="ellipse">
            <a:avLst/>
          </a:prstGeom>
          <a:solidFill>
            <a:srgbClr val="14B8A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651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Caesar (brute force) and substitution (frequency)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192024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11680"/>
            <a:ext cx="548640" cy="548640"/>
          </a:xfrm>
          <a:prstGeom prst="ellipse">
            <a:avLst/>
          </a:prstGeom>
          <a:solidFill>
            <a:srgbClr val="F5B83D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6517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Vigenère key length</a:t>
            </a:r>
            <a:endParaRPr lang="en-US" sz="1500" dirty="0"/>
          </a:p>
        </p:txBody>
      </p:sp>
      <p:sp>
        <p:nvSpPr>
          <p:cNvPr id="20" name="Text Box 19"/>
          <p:cNvSpPr txBox="1"/>
          <p:nvPr/>
        </p:nvSpPr>
        <p:spPr>
          <a:xfrm>
            <a:off x="833755" y="3949065"/>
            <a:ext cx="57499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/>
              <a:t>Experiment has four steps</a:t>
            </a:r>
            <a:endParaRPr lang="en-US" altLang="en-US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and Analysis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097280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1097280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337560"/>
            <a:ext cx="82296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Substitution: shape preserved, easy to guess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Vigenère: frequency analysis fails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cipher fixed the last weakness, but all were eventually broken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48463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B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graphs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</p:spPr>
      </p:sp>
      <p:sp>
        <p:nvSpPr>
          <p:cNvPr id="5" name="Text 3"/>
          <p:cNvSpPr txBox="1"/>
          <p:nvPr/>
        </p:nvSpPr>
        <p:spPr>
          <a:xfrm>
            <a:off x="8321040" y="2286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B8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72745"/>
            <a:ext cx="6421755" cy="219900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850" y="2737485"/>
            <a:ext cx="6164580" cy="22548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WPS Presentation</Application>
  <PresentationFormat>On-screen Show (16:9)</PresentationFormat>
  <Paragraphs>313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Georgia</vt:lpstr>
      <vt:lpstr>Georgia</vt:lpstr>
      <vt:lpstr>Georgia</vt:lpstr>
      <vt:lpstr>Consolas</vt:lpstr>
      <vt:lpstr>Consolas</vt:lpstr>
      <vt:lpstr>Consolas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Dhanusha sree</cp:lastModifiedBy>
  <cp:revision>8</cp:revision>
  <dcterms:created xsi:type="dcterms:W3CDTF">2026-10-07T17:46:00Z</dcterms:created>
  <dcterms:modified xsi:type="dcterms:W3CDTF">2026-10-08T04:49:31Z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778629582D0842ABAEBF5B1B4C45690F_13</vt:lpwstr>
  </property>
</Properties>
</file>